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embeddedFontLst>
    <p:embeddedFont>
      <p:font typeface="Raleway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imnUuutV7a5c5P+ZyTItiybQXU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.fntdata"/><Relationship Id="rId22" Type="http://schemas.openxmlformats.org/officeDocument/2006/relationships/font" Target="fonts/Raleway-boldItalic.fntdata"/><Relationship Id="rId21" Type="http://schemas.openxmlformats.org/officeDocument/2006/relationships/font" Target="fonts/Raleway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27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Raleway-regular.fntdata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a48a36a95f_0_634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g3a48a36a95f_0_634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2" name="Google Shape;12;g3a48a36a95f_0_6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g3a48a36a95f_0_6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g3a48a36a95f_0_634"/>
          <p:cNvSpPr txBox="1"/>
          <p:nvPr>
            <p:ph type="ctrTitle"/>
          </p:nvPr>
        </p:nvSpPr>
        <p:spPr>
          <a:xfrm>
            <a:off x="972600" y="1763267"/>
            <a:ext cx="10250700" cy="2219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5" name="Google Shape;15;g3a48a36a95f_0_634"/>
          <p:cNvSpPr txBox="1"/>
          <p:nvPr>
            <p:ph idx="1" type="subTitle"/>
          </p:nvPr>
        </p:nvSpPr>
        <p:spPr>
          <a:xfrm>
            <a:off x="972837" y="4230533"/>
            <a:ext cx="10250700" cy="721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g3a48a36a95f_0_634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g3a48a36a95f_0_642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9" name="Google Shape;19;g3a48a36a95f_0_64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g3a48a36a95f_0_64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g3a48a36a95f_0_642"/>
          <p:cNvSpPr txBox="1"/>
          <p:nvPr>
            <p:ph type="title"/>
          </p:nvPr>
        </p:nvSpPr>
        <p:spPr>
          <a:xfrm>
            <a:off x="972600" y="1763267"/>
            <a:ext cx="10251300" cy="20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g3a48a36a95f_0_642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a48a36a95f_0_648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g3a48a36a95f_0_648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26" name="Google Shape;26;g3a48a36a95f_0_64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g3a48a36a95f_0_64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g3a48a36a95f_0_648"/>
          <p:cNvSpPr txBox="1"/>
          <p:nvPr>
            <p:ph type="title"/>
          </p:nvPr>
        </p:nvSpPr>
        <p:spPr>
          <a:xfrm>
            <a:off x="972600" y="1758200"/>
            <a:ext cx="102516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29" name="Google Shape;29;g3a48a36a95f_0_648"/>
          <p:cNvSpPr txBox="1"/>
          <p:nvPr>
            <p:ph idx="1" type="body"/>
          </p:nvPr>
        </p:nvSpPr>
        <p:spPr>
          <a:xfrm>
            <a:off x="972600" y="2771833"/>
            <a:ext cx="102516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0" name="Google Shape;30;g3a48a36a95f_0_648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a48a36a95f_0_656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g3a48a36a95f_0_656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34" name="Google Shape;34;g3a48a36a95f_0_65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g3a48a36a95f_0_65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g3a48a36a95f_0_656"/>
          <p:cNvSpPr txBox="1"/>
          <p:nvPr>
            <p:ph type="title"/>
          </p:nvPr>
        </p:nvSpPr>
        <p:spPr>
          <a:xfrm>
            <a:off x="972600" y="1758200"/>
            <a:ext cx="102513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37" name="Google Shape;37;g3a48a36a95f_0_656"/>
          <p:cNvSpPr txBox="1"/>
          <p:nvPr>
            <p:ph idx="1" type="body"/>
          </p:nvPr>
        </p:nvSpPr>
        <p:spPr>
          <a:xfrm>
            <a:off x="972434" y="2771833"/>
            <a:ext cx="50325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8" name="Google Shape;38;g3a48a36a95f_0_656"/>
          <p:cNvSpPr txBox="1"/>
          <p:nvPr>
            <p:ph idx="2" type="body"/>
          </p:nvPr>
        </p:nvSpPr>
        <p:spPr>
          <a:xfrm>
            <a:off x="6191471" y="2771833"/>
            <a:ext cx="50325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9" name="Google Shape;39;g3a48a36a95f_0_656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a48a36a95f_0_665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g3a48a36a95f_0_665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43" name="Google Shape;43;g3a48a36a95f_0_66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g3a48a36a95f_0_66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g3a48a36a95f_0_665"/>
          <p:cNvSpPr txBox="1"/>
          <p:nvPr>
            <p:ph type="title"/>
          </p:nvPr>
        </p:nvSpPr>
        <p:spPr>
          <a:xfrm>
            <a:off x="972600" y="1758200"/>
            <a:ext cx="102513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46" name="Google Shape;46;g3a48a36a95f_0_665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a48a36a95f_0_672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g3a48a36a95f_0_672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50" name="Google Shape;50;g3a48a36a95f_0_67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g3a48a36a95f_0_67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g3a48a36a95f_0_672"/>
          <p:cNvSpPr txBox="1"/>
          <p:nvPr>
            <p:ph type="title"/>
          </p:nvPr>
        </p:nvSpPr>
        <p:spPr>
          <a:xfrm>
            <a:off x="973333" y="1758200"/>
            <a:ext cx="4401300" cy="184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53" name="Google Shape;53;g3a48a36a95f_0_672"/>
          <p:cNvSpPr txBox="1"/>
          <p:nvPr>
            <p:ph idx="1" type="body"/>
          </p:nvPr>
        </p:nvSpPr>
        <p:spPr>
          <a:xfrm>
            <a:off x="961633" y="3708967"/>
            <a:ext cx="4401300" cy="2130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4" name="Google Shape;54;g3a48a36a95f_0_672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g3a48a36a95f_0_680"/>
          <p:cNvGrpSpPr/>
          <p:nvPr/>
        </p:nvGrpSpPr>
        <p:grpSpPr>
          <a:xfrm>
            <a:off x="1107036" y="5558926"/>
            <a:ext cx="994316" cy="61102"/>
            <a:chOff x="4580561" y="2589004"/>
            <a:chExt cx="1064464" cy="25200"/>
          </a:xfrm>
        </p:grpSpPr>
        <p:sp>
          <p:nvSpPr>
            <p:cNvPr id="57" name="Google Shape;57;g3a48a36a95f_0_68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g3a48a36a95f_0_68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g3a48a36a95f_0_680"/>
          <p:cNvSpPr txBox="1"/>
          <p:nvPr>
            <p:ph type="title"/>
          </p:nvPr>
        </p:nvSpPr>
        <p:spPr>
          <a:xfrm>
            <a:off x="972600" y="1152400"/>
            <a:ext cx="9361500" cy="3980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g3a48a36a95f_0_680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48a36a95f_0_68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g3a48a36a95f_0_686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64" name="Google Shape;64;g3a48a36a95f_0_68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g3a48a36a95f_0_68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g3a48a36a95f_0_686"/>
          <p:cNvSpPr txBox="1"/>
          <p:nvPr>
            <p:ph type="title"/>
          </p:nvPr>
        </p:nvSpPr>
        <p:spPr>
          <a:xfrm>
            <a:off x="973333" y="1758200"/>
            <a:ext cx="4401300" cy="2249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67" name="Google Shape;67;g3a48a36a95f_0_686"/>
          <p:cNvSpPr txBox="1"/>
          <p:nvPr>
            <p:ph idx="1" type="subTitle"/>
          </p:nvPr>
        </p:nvSpPr>
        <p:spPr>
          <a:xfrm>
            <a:off x="966600" y="4215367"/>
            <a:ext cx="4401300" cy="1011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8" name="Google Shape;68;g3a48a36a95f_0_686"/>
          <p:cNvSpPr txBox="1"/>
          <p:nvPr>
            <p:ph idx="2" type="body"/>
          </p:nvPr>
        </p:nvSpPr>
        <p:spPr>
          <a:xfrm>
            <a:off x="6898967" y="1803500"/>
            <a:ext cx="4499100" cy="4034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69" name="Google Shape;69;g3a48a36a95f_0_686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48a36a95f_0_695"/>
          <p:cNvSpPr txBox="1"/>
          <p:nvPr>
            <p:ph idx="1" type="body"/>
          </p:nvPr>
        </p:nvSpPr>
        <p:spPr>
          <a:xfrm>
            <a:off x="966600" y="5830068"/>
            <a:ext cx="10263300" cy="614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72" name="Google Shape;72;g3a48a36a95f_0_695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g3a48a36a95f_0_698"/>
          <p:cNvGrpSpPr/>
          <p:nvPr/>
        </p:nvGrpSpPr>
        <p:grpSpPr>
          <a:xfrm>
            <a:off x="1107036" y="5558926"/>
            <a:ext cx="994316" cy="61102"/>
            <a:chOff x="4580561" y="2589004"/>
            <a:chExt cx="1064464" cy="25200"/>
          </a:xfrm>
        </p:grpSpPr>
        <p:sp>
          <p:nvSpPr>
            <p:cNvPr id="75" name="Google Shape;75;g3a48a36a95f_0_69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g3a48a36a95f_0_69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g3a48a36a95f_0_698"/>
          <p:cNvSpPr txBox="1"/>
          <p:nvPr>
            <p:ph hasCustomPrompt="1" type="title"/>
          </p:nvPr>
        </p:nvSpPr>
        <p:spPr>
          <a:xfrm>
            <a:off x="972600" y="978600"/>
            <a:ext cx="10251300" cy="1659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g3a48a36a95f_0_698"/>
          <p:cNvSpPr txBox="1"/>
          <p:nvPr>
            <p:ph idx="1" type="body"/>
          </p:nvPr>
        </p:nvSpPr>
        <p:spPr>
          <a:xfrm>
            <a:off x="972600" y="3030517"/>
            <a:ext cx="10251300" cy="2107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g3a48a36a95f_0_698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48a36a95f_0_705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a48a36a95f_0_63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g3a48a36a95f_0_630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ato"/>
              <a:buChar char="●"/>
              <a:defRPr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238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38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38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238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238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238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238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g3a48a36a95f_0_630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1.jpg"/><Relationship Id="rId5" Type="http://schemas.openxmlformats.org/officeDocument/2006/relationships/image" Target="../media/image22.jpg"/><Relationship Id="rId6" Type="http://schemas.openxmlformats.org/officeDocument/2006/relationships/image" Target="../media/image2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20.png"/><Relationship Id="rId10" Type="http://schemas.openxmlformats.org/officeDocument/2006/relationships/image" Target="../media/image6.png"/><Relationship Id="rId13" Type="http://schemas.openxmlformats.org/officeDocument/2006/relationships/image" Target="../media/image14.png"/><Relationship Id="rId1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12.png"/><Relationship Id="rId9" Type="http://schemas.openxmlformats.org/officeDocument/2006/relationships/image" Target="../media/image18.png"/><Relationship Id="rId15" Type="http://schemas.openxmlformats.org/officeDocument/2006/relationships/image" Target="../media/image17.png"/><Relationship Id="rId14" Type="http://schemas.openxmlformats.org/officeDocument/2006/relationships/image" Target="../media/image15.png"/><Relationship Id="rId16" Type="http://schemas.openxmlformats.org/officeDocument/2006/relationships/image" Target="../media/image19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Relationship Id="rId7" Type="http://schemas.openxmlformats.org/officeDocument/2006/relationships/image" Target="../media/image8.png"/><Relationship Id="rId8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" y="2707792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Evolución</a:t>
            </a: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 Teo</a:t>
            </a: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 CAPSTONE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2" name="Google Shape;9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" name="Google Shape;93;p2"/>
          <p:cNvGrpSpPr/>
          <p:nvPr/>
        </p:nvGrpSpPr>
        <p:grpSpPr>
          <a:xfrm>
            <a:off x="4121025" y="1710825"/>
            <a:ext cx="7885399" cy="4844341"/>
            <a:chOff x="0" y="0"/>
            <a:chExt cx="7633494" cy="4350553"/>
          </a:xfrm>
        </p:grpSpPr>
        <p:sp>
          <p:nvSpPr>
            <p:cNvPr id="94" name="Google Shape;94;p2"/>
            <p:cNvSpPr/>
            <p:nvPr/>
          </p:nvSpPr>
          <p:spPr>
            <a:xfrm>
              <a:off x="0" y="0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 txBox="1"/>
            <p:nvPr/>
          </p:nvSpPr>
          <p:spPr>
            <a:xfrm>
              <a:off x="1662653" y="0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Carlos Gacitúa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Scrum Master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Gestión y Desarrollo Fullstack con módulos completos.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135954" y="135954"/>
              <a:ext cx="1526700" cy="1087500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0" y="1495502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 txBox="1"/>
            <p:nvPr/>
          </p:nvSpPr>
          <p:spPr>
            <a:xfrm>
              <a:off x="1662653" y="1495502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Juan Ampuero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Developer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Desarrollo Fullstack con módulos completos.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135954" y="1631457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0" y="2991005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2"/>
            <p:cNvSpPr txBox="1"/>
            <p:nvPr/>
          </p:nvSpPr>
          <p:spPr>
            <a:xfrm>
              <a:off x="1662653" y="2991005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Diego Ruminot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Developer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Desarrollo Fullstack con módulos completos.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135954" y="3126960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EVOLUCIÓN DON TEO</a:t>
            </a: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" name="Google Shape;105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06" name="Google Shape;106;p2" title="unnamed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7750" y="3532850"/>
            <a:ext cx="1593800" cy="120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" title="aa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57750" y="1870250"/>
            <a:ext cx="1593800" cy="1200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57750" y="5195450"/>
            <a:ext cx="1593800" cy="120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3" name="Google Shape;11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“EVOLUCIÓN DON TEO”</a:t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7" name="Google Shape;117;p3"/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manual en papel.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Desactualización, pérdidas y duplicidad de datos.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Verificación manual por cada reserva.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sistema actual no permite generar reportes por fecha, clientes, etc.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6912079" y="2177325"/>
            <a:ext cx="4348800" cy="40926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un sistema centralizado para reservas y disponibilidad.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Generar reportes ingresos, Preferencias,Comparación año/mes).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Integrar Chatbot en WhatsApp para atención rápida y moderna.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24" name="Google Shape;12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4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“EVOLUCIÓN DON TEO”</a:t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" name="Google Shape;127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8" name="Google Shape;128;p4"/>
          <p:cNvSpPr txBox="1"/>
          <p:nvPr/>
        </p:nvSpPr>
        <p:spPr>
          <a:xfrm>
            <a:off x="1" y="3850859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Optimizar la experiencia del cliente y reducir la carga operativa en recepción, mediante la implementación de un sistema digital centralizado que automatice la gestión de reservas, elimine la duplicidad de datos y proporcione herramientas para la toma de decisiones estratégicas.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614525" y="4497350"/>
            <a:ext cx="10962900" cy="2033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Centralizar la gestión de reservas y disponibilidad de habitaciones en tiempo real.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Generar reportes automáticos sobre ingresos, ocupación y preferencias de clientes.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Integrar un Chatbot de WhatsApp para automatizar la atención al cliente.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Reducir la carga operativa en recepción mediante la automatización de tareas manuales.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Definir roles y permisos claros (Recepcionista y Administrador) dentro del sistema.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5" name="Google Shape;13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5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“EVOLUCIÓN DON TEO”</a:t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 y limitaciones del proyecto</a:t>
            </a:r>
            <a:endParaRPr/>
          </a:p>
        </p:txBody>
      </p:sp>
      <p:cxnSp>
        <p:nvCxnSpPr>
          <p:cNvPr id="138" name="Google Shape;138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9" name="Google Shape;139;p5"/>
          <p:cNvSpPr txBox="1"/>
          <p:nvPr/>
        </p:nvSpPr>
        <p:spPr>
          <a:xfrm>
            <a:off x="1359300" y="2078975"/>
            <a:ext cx="9473400" cy="44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1800">
                <a:latin typeface="Calibri"/>
                <a:ea typeface="Calibri"/>
                <a:cs typeface="Calibri"/>
                <a:sym typeface="Calibri"/>
              </a:rPr>
              <a:t>ALCANCES: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latin typeface="Calibri"/>
                <a:ea typeface="Calibri"/>
                <a:cs typeface="Calibri"/>
                <a:sym typeface="Calibri"/>
              </a:rPr>
              <a:t>Gestión completa de reservas y habitaciones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latin typeface="Calibri"/>
                <a:ea typeface="Calibri"/>
                <a:cs typeface="Calibri"/>
                <a:sym typeface="Calibri"/>
              </a:rPr>
              <a:t>Chatbot WhatsApp 24/7 para solicitudes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latin typeface="Calibri"/>
                <a:ea typeface="Calibri"/>
                <a:cs typeface="Calibri"/>
                <a:sym typeface="Calibri"/>
              </a:rPr>
              <a:t>Dashboard con reportes personalizables.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latin typeface="Calibri"/>
                <a:ea typeface="Calibri"/>
                <a:cs typeface="Calibri"/>
                <a:sym typeface="Calibri"/>
              </a:rPr>
              <a:t>Sistema de roles (Admin, Recepcionista, Cliente)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latin typeface="Calibri"/>
                <a:ea typeface="Calibri"/>
                <a:cs typeface="Calibri"/>
                <a:sym typeface="Calibri"/>
              </a:rPr>
              <a:t>Notificaciones en tiempo real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latin typeface="Calibri"/>
                <a:ea typeface="Calibri"/>
                <a:cs typeface="Calibri"/>
                <a:sym typeface="Calibri"/>
              </a:rPr>
              <a:t>Exportación PDF/Excel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1800">
                <a:latin typeface="Calibri"/>
                <a:ea typeface="Calibri"/>
                <a:cs typeface="Calibri"/>
                <a:sym typeface="Calibri"/>
              </a:rPr>
              <a:t>LIMITACIONES: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latin typeface="Calibri"/>
                <a:ea typeface="Calibri"/>
                <a:cs typeface="Calibri"/>
                <a:sym typeface="Calibri"/>
              </a:rPr>
              <a:t>Sin pasarela de pago online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latin typeface="Calibri"/>
                <a:ea typeface="Calibri"/>
                <a:cs typeface="Calibri"/>
                <a:sym typeface="Calibri"/>
              </a:rPr>
              <a:t>Sin app móvil nativa (solo web)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latin typeface="Calibri"/>
                <a:ea typeface="Calibri"/>
                <a:cs typeface="Calibri"/>
                <a:sym typeface="Calibri"/>
              </a:rPr>
              <a:t>Requiere configuración manual de WhatsApp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latin typeface="Calibri"/>
                <a:ea typeface="Calibri"/>
                <a:cs typeface="Calibri"/>
                <a:sym typeface="Calibri"/>
              </a:rPr>
              <a:t>Diseñado para un solo hotel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4" name="Google Shape;14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6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“EVOLUCIÓN DON TEO”</a:t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" name="Google Shape;147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8" name="Google Shape;148;p6"/>
          <p:cNvSpPr txBox="1"/>
          <p:nvPr/>
        </p:nvSpPr>
        <p:spPr>
          <a:xfrm>
            <a:off x="1359300" y="2401500"/>
            <a:ext cx="9473400" cy="20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latin typeface="Calibri"/>
                <a:ea typeface="Calibri"/>
                <a:cs typeface="Calibri"/>
                <a:sym typeface="Calibri"/>
              </a:rPr>
              <a:t>Análisis de requerimientos.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latin typeface="Calibri"/>
                <a:ea typeface="Calibri"/>
                <a:cs typeface="Calibri"/>
                <a:sym typeface="Calibri"/>
              </a:rPr>
              <a:t>Diseño del sistema (UML, mockups, arquitectura).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latin typeface="Calibri"/>
                <a:ea typeface="Calibri"/>
                <a:cs typeface="Calibri"/>
                <a:sym typeface="Calibri"/>
              </a:rPr>
              <a:t>Desarrollo por sprints.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latin typeface="Calibri"/>
                <a:ea typeface="Calibri"/>
                <a:cs typeface="Calibri"/>
                <a:sym typeface="Calibri"/>
              </a:rPr>
              <a:t>Pruebas funcionales e integración.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latin typeface="Calibri"/>
                <a:ea typeface="Calibri"/>
                <a:cs typeface="Calibri"/>
                <a:sym typeface="Calibri"/>
              </a:rPr>
              <a:t>Despliegue y manual de usuario.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latin typeface="Calibri"/>
                <a:ea typeface="Calibri"/>
                <a:cs typeface="Calibri"/>
                <a:sym typeface="Calibri"/>
              </a:rPr>
              <a:t>Herramientas: reuniones semanales, Kanban, GitHub.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3" name="Google Shape;15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7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“EVOLUCIÓN DON TEO”</a:t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 txBox="1"/>
          <p:nvPr/>
        </p:nvSpPr>
        <p:spPr>
          <a:xfrm>
            <a:off x="1" y="1155656"/>
            <a:ext cx="121920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 Utilizar cronograma de inicio, indicando el cumplimiento al término del proyecto</a:t>
            </a:r>
            <a:endParaRPr sz="10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" name="Google Shape;156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57" name="Google Shape;157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67625" y="2048450"/>
            <a:ext cx="7056750" cy="48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2" name="Google Shape;16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8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“EVOLUCIÓN DON TEO”</a:t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 txBox="1"/>
          <p:nvPr/>
        </p:nvSpPr>
        <p:spPr>
          <a:xfrm>
            <a:off x="0" y="143265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/>
          </a:p>
        </p:txBody>
      </p:sp>
      <p:cxnSp>
        <p:nvCxnSpPr>
          <p:cNvPr id="165" name="Google Shape;165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66" name="Google Shape;166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86600" y="2136025"/>
            <a:ext cx="6018775" cy="472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1" name="Google Shape;17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9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“EVOLUCIÓN DON TEO”</a:t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/>
          </a:p>
        </p:txBody>
      </p:sp>
      <p:cxnSp>
        <p:nvCxnSpPr>
          <p:cNvPr id="174" name="Google Shape;174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75" name="Google Shape;175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71850" y="2078975"/>
            <a:ext cx="9520150" cy="477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2215122"/>
            <a:ext cx="2671856" cy="458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1" name="Google Shape;18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0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“EVOLUCIÓN DON TEO”</a:t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 txBox="1"/>
          <p:nvPr/>
        </p:nvSpPr>
        <p:spPr>
          <a:xfrm>
            <a:off x="0" y="1432655"/>
            <a:ext cx="121920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/>
          </a:p>
        </p:txBody>
      </p:sp>
      <p:cxnSp>
        <p:nvCxnSpPr>
          <p:cNvPr id="184" name="Google Shape;184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85" name="Google Shape;185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52663" y="5531825"/>
            <a:ext cx="1917228" cy="82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67918" y="4101625"/>
            <a:ext cx="1886696" cy="82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46588" y="4613446"/>
            <a:ext cx="1763075" cy="9183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46602" y="2387675"/>
            <a:ext cx="1470260" cy="82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25926" y="2323640"/>
            <a:ext cx="2266275" cy="1133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805538" y="5450084"/>
            <a:ext cx="2108035" cy="118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764400" y="4101625"/>
            <a:ext cx="2190300" cy="122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0195100" y="2528475"/>
            <a:ext cx="1224493" cy="103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4000" y="2387674"/>
            <a:ext cx="1553528" cy="103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01675" y="3807063"/>
            <a:ext cx="1717600" cy="885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36200" y="4988950"/>
            <a:ext cx="2190300" cy="1816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0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3034902" y="5736698"/>
            <a:ext cx="2069482" cy="101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0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2921802" y="3421475"/>
            <a:ext cx="2643589" cy="8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2" name="Google Shape;2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1"/>
          <p:cNvSpPr txBox="1"/>
          <p:nvPr/>
        </p:nvSpPr>
        <p:spPr>
          <a:xfrm>
            <a:off x="1" y="2707792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 sz="24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8" name="Google Shape;20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2"/>
          <p:cNvSpPr txBox="1"/>
          <p:nvPr/>
        </p:nvSpPr>
        <p:spPr>
          <a:xfrm>
            <a:off x="1" y="1459095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/>
          </a:p>
        </p:txBody>
      </p:sp>
      <p:sp>
        <p:nvSpPr>
          <p:cNvPr id="210" name="Google Shape;210;p12"/>
          <p:cNvSpPr txBox="1"/>
          <p:nvPr/>
        </p:nvSpPr>
        <p:spPr>
          <a:xfrm>
            <a:off x="926325" y="3217725"/>
            <a:ext cx="9539400" cy="26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Registro de datos más ágil y eficiente.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Visualización de dashboards y generación automática de reportes.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Disminución de tiempos de gestión y reducción de errores en las reservas.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Mejora en la toma de decisiones estratégicas.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Mejor experiencia para el usuario gracias a procesos más intuitivos.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Mayor trazabilidad y control de la información operativa.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5" name="Google Shape;21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3"/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/>
          </a:p>
        </p:txBody>
      </p:sp>
      <p:sp>
        <p:nvSpPr>
          <p:cNvPr id="217" name="Google Shape;217;p13"/>
          <p:cNvSpPr txBox="1"/>
          <p:nvPr/>
        </p:nvSpPr>
        <p:spPr>
          <a:xfrm>
            <a:off x="1359300" y="2401500"/>
            <a:ext cx="94734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latin typeface="Calibri"/>
                <a:ea typeface="Calibri"/>
                <a:cs typeface="Calibri"/>
                <a:sym typeface="Calibri"/>
              </a:rPr>
              <a:t>Caída de docker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latin typeface="Calibri"/>
                <a:ea typeface="Calibri"/>
                <a:cs typeface="Calibri"/>
                <a:sym typeface="Calibri"/>
              </a:rPr>
              <a:t>Falta de </a:t>
            </a:r>
            <a:r>
              <a:rPr lang="es-CL" sz="1800">
                <a:latin typeface="Calibri"/>
                <a:ea typeface="Calibri"/>
                <a:cs typeface="Calibri"/>
                <a:sym typeface="Calibri"/>
              </a:rPr>
              <a:t>comunicación</a:t>
            </a:r>
            <a:r>
              <a:rPr lang="es-CL" sz="1800">
                <a:latin typeface="Calibri"/>
                <a:ea typeface="Calibri"/>
                <a:cs typeface="Calibri"/>
                <a:sym typeface="Calibri"/>
              </a:rPr>
              <a:t> en el equipo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latin typeface="Calibri"/>
                <a:ea typeface="Calibri"/>
                <a:cs typeface="Calibri"/>
                <a:sym typeface="Calibri"/>
              </a:rPr>
              <a:t>Tareas que no estaban lo bastantes claras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latin typeface="Calibri"/>
                <a:ea typeface="Calibri"/>
                <a:cs typeface="Calibri"/>
                <a:sym typeface="Calibri"/>
              </a:rPr>
              <a:t>Cambios de requisitos en base al cliente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22" name="Google Shape;22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4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